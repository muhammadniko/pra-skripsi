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205" y="287655"/>
            <a:ext cx="10942955" cy="2592070"/>
          </a:xfrm>
        </p:spPr>
        <p:txBody>
          <a:bodyPr/>
          <a:p>
            <a:r>
              <a:rPr lang="en-US" b="1">
                <a:ln>
                  <a:noFill/>
                </a:ln>
              </a:rPr>
              <a:t>“IMPLEMENTASI GOOGLE MAPS API PADA SISTEM INFORMASI GEOGRAFIS ZONASI TINGKAT RISIKO KEBAKARAN PERMUKIMAN DI KOTA BANJARMASIN”</a:t>
            </a:r>
            <a:endParaRPr lang="en-US" b="1">
              <a:ln>
                <a:noFill/>
              </a:ln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0" y="5231130"/>
            <a:ext cx="7670800" cy="1428115"/>
          </a:xfrm>
        </p:spPr>
        <p:txBody>
          <a:bodyPr/>
          <a:p>
            <a:r>
              <a:rPr lang="" altLang="en-US" u="sng">
                <a:solidFill>
                  <a:schemeClr val="tx1"/>
                </a:solidFill>
              </a:rPr>
              <a:t>MUHAMMAD NIKO DWIJATMIKO</a:t>
            </a:r>
            <a:endParaRPr lang="" altLang="en-US">
              <a:solidFill>
                <a:schemeClr val="tx1"/>
              </a:solidFill>
            </a:endParaRPr>
          </a:p>
          <a:p>
            <a:r>
              <a:rPr lang="" altLang="en-US">
                <a:solidFill>
                  <a:schemeClr val="tx1"/>
                </a:solidFill>
              </a:rPr>
              <a:t>16.03.1076</a:t>
            </a:r>
            <a:endParaRPr lang="" altLang="en-US">
              <a:solidFill>
                <a:schemeClr val="tx1"/>
              </a:solidFill>
            </a:endParaRPr>
          </a:p>
        </p:txBody>
      </p:sp>
      <p:pic>
        <p:nvPicPr>
          <p:cNvPr id="4" name="Picture 3" descr="LOGOSTMIKINDONESIABANJARMAS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930" y="2993390"/>
            <a:ext cx="1882775" cy="18357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2630170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5015230" cy="582930"/>
          </a:xfrm>
        </p:spPr>
        <p:txBody>
          <a:bodyPr/>
          <a:p>
            <a:r>
              <a:rPr lang="" altLang="en-US" sz="2000" b="1">
                <a:solidFill>
                  <a:schemeClr val="bg1"/>
                </a:solidFill>
              </a:rPr>
              <a:t>1. PENDAHULUAN</a:t>
            </a:r>
            <a:endParaRPr lang="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24045" y="697230"/>
            <a:ext cx="334327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sz="2400" b="1">
                <a:solidFill>
                  <a:schemeClr val="bg1"/>
                </a:solidFill>
              </a:rPr>
              <a:t>LATAR BELAKANG</a:t>
            </a:r>
            <a:endParaRPr lang="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609600" y="1425575"/>
            <a:ext cx="10193655" cy="511238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Tingginya aktivitas penduduk perkotaan akan menyebabkan potensi terjadinya bencana kebakaran permukiman di kawasan tersebut menjadi lebih besar.</a:t>
            </a:r>
            <a:endParaRPr lang="en-US" altLang="en-US" sz="2000">
              <a:solidFill>
                <a:schemeClr val="tx1"/>
              </a:solidFill>
            </a:endParaRPr>
          </a:p>
          <a:p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BPS Kota Banjarmasin sendiri mencatat bahwa sepanjang tahun 2018, telah terjadi sebanyak 49 kasus kebakaran permukiman</a:t>
            </a:r>
            <a:r>
              <a:rPr lang="" altLang="en-US" sz="2000">
                <a:solidFill>
                  <a:schemeClr val="tx1"/>
                </a:solidFill>
              </a:rPr>
              <a:t>.</a:t>
            </a:r>
            <a:endParaRPr lang="" altLang="en-US" sz="2000">
              <a:solidFill>
                <a:schemeClr val="tx1"/>
              </a:solidFill>
            </a:endParaRPr>
          </a:p>
          <a:p>
            <a:endParaRPr lang="" altLang="en-US" sz="2000">
              <a:solidFill>
                <a:schemeClr val="tx1"/>
              </a:solidFill>
            </a:endParaRPr>
          </a:p>
          <a:p>
            <a:r>
              <a:rPr altLang="en-US" sz="2000">
                <a:sym typeface="+mn-ea"/>
              </a:rPr>
              <a:t>Pemetaan tingkat risiko bencana perlu dilakukan sebagai upaya mitigasi bencana untuk mengurangi tingkat risiko ataupun </a:t>
            </a:r>
            <a:r>
              <a:rPr lang="" sz="2000">
                <a:sym typeface="+mn-ea"/>
              </a:rPr>
              <a:t>kerugian</a:t>
            </a:r>
            <a:r>
              <a:rPr altLang="en-US" sz="2000">
                <a:sym typeface="+mn-ea"/>
              </a:rPr>
              <a:t> yang disebabkan oleh bencana kebakaran permukiman</a:t>
            </a:r>
            <a:endParaRPr altLang="en-US" sz="2000">
              <a:sym typeface="+mn-ea"/>
            </a:endParaRPr>
          </a:p>
          <a:p>
            <a:endParaRPr lang="en-US" altLang="en-US" sz="2000">
              <a:solidFill>
                <a:schemeClr val="tx1"/>
              </a:solidFill>
            </a:endParaRPr>
          </a:p>
          <a:p>
            <a:r>
              <a:rPr lang="" altLang="en-US" sz="2000">
                <a:solidFill>
                  <a:schemeClr val="tx1"/>
                </a:solidFill>
              </a:rPr>
              <a:t>S</a:t>
            </a:r>
            <a:r>
              <a:rPr lang="en-US" altLang="en-US" sz="2000">
                <a:solidFill>
                  <a:schemeClr val="tx1"/>
                </a:solidFill>
              </a:rPr>
              <a:t>olusi berupa sistem yang dapat membantu memberikan informasi berupa data spasial dari suatu area permukiman yang disertai dengan tingkat </a:t>
            </a:r>
            <a:r>
              <a:rPr lang="" altLang="en-US" sz="2000">
                <a:solidFill>
                  <a:schemeClr val="tx1"/>
                </a:solidFill>
              </a:rPr>
              <a:t>risiko</a:t>
            </a:r>
            <a:r>
              <a:rPr lang="en-US" altLang="en-US" sz="2000">
                <a:solidFill>
                  <a:schemeClr val="tx1"/>
                </a:solidFill>
              </a:rPr>
              <a:t>nya terhadap bencana kebakaran.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2630170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501523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1. PENDAHULUAN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189095" y="697230"/>
            <a:ext cx="389572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PERUMUSAN MASALAH</a:t>
            </a:r>
            <a:endParaRPr lang="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066800" y="1489710"/>
            <a:ext cx="5461000" cy="118872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Bagaimana membuat sistem informasi geografis untuk memetakan zonasi tingkat risiko kebakaran permukiman di Kota Banjarmasin ?</a:t>
            </a:r>
            <a:endParaRPr lang="en-US" altLang="en-US" sz="2000">
              <a:solidFill>
                <a:schemeClr val="tx1"/>
              </a:solidFill>
            </a:endParaRPr>
          </a:p>
          <a:p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7201535" y="1520190"/>
            <a:ext cx="4615180" cy="1098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ym typeface="+mn-ea"/>
              </a:rPr>
              <a:t>Bagaimana menerapkan Google Maps API pada pemetaan zonasi tingkat risiko kebakaran permukiman ?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9" name="Snip Diagonal Corner Rectangle 8"/>
          <p:cNvSpPr/>
          <p:nvPr/>
        </p:nvSpPr>
        <p:spPr>
          <a:xfrm>
            <a:off x="608965" y="294640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4455795" y="2979420"/>
            <a:ext cx="327977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BATASAN</a:t>
            </a:r>
            <a:r>
              <a:rPr lang="en-US" altLang="en-US" sz="2400" b="1">
                <a:solidFill>
                  <a:schemeClr val="bg1"/>
                </a:solidFill>
              </a:rPr>
              <a:t> MASALAH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/>
        </p:nvSpPr>
        <p:spPr>
          <a:xfrm>
            <a:off x="1141730" y="3845560"/>
            <a:ext cx="5200650" cy="123952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000">
                <a:solidFill>
                  <a:schemeClr val="tx1"/>
                </a:solidFill>
              </a:rPr>
              <a:t>Dalam </a:t>
            </a:r>
            <a:r>
              <a:rPr lang="en-US" altLang="en-US" sz="2000">
                <a:solidFill>
                  <a:schemeClr val="tx1"/>
                </a:solidFill>
              </a:rPr>
              <a:t>mengenali tingkat risiko kebakaran permukiman, metode pemberian bobot dan perhitungan skor pada setiap paramenter</a:t>
            </a:r>
            <a:r>
              <a:rPr lang="" altLang="en-US" sz="2000">
                <a:solidFill>
                  <a:schemeClr val="tx1"/>
                </a:solidFill>
              </a:rPr>
              <a:t>nya telah </a:t>
            </a:r>
            <a:r>
              <a:rPr lang="en-US" altLang="en-US" sz="2000">
                <a:solidFill>
                  <a:schemeClr val="tx1"/>
                </a:solidFill>
              </a:rPr>
              <a:t>ditentukan.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/>
        </p:nvSpPr>
        <p:spPr>
          <a:xfrm>
            <a:off x="1172210" y="5349240"/>
            <a:ext cx="4785360" cy="1176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000">
                <a:solidFill>
                  <a:schemeClr val="tx1"/>
                </a:solidFill>
              </a:rPr>
              <a:t>Z</a:t>
            </a:r>
            <a:r>
              <a:rPr lang="en-US" altLang="en-US" sz="2000">
                <a:solidFill>
                  <a:schemeClr val="tx1"/>
                </a:solidFill>
              </a:rPr>
              <a:t>onasi daerah </a:t>
            </a:r>
            <a:r>
              <a:rPr lang="" altLang="en-US" sz="2000">
                <a:solidFill>
                  <a:schemeClr val="tx1"/>
                </a:solidFill>
              </a:rPr>
              <a:t>hanya</a:t>
            </a:r>
            <a:r>
              <a:rPr lang="en-US" altLang="en-US" sz="2000">
                <a:solidFill>
                  <a:schemeClr val="tx1"/>
                </a:solidFill>
              </a:rPr>
              <a:t> </a:t>
            </a:r>
            <a:r>
              <a:rPr lang="" altLang="en-US" sz="2000">
                <a:solidFill>
                  <a:schemeClr val="tx1"/>
                </a:solidFill>
              </a:rPr>
              <a:t>dibagi</a:t>
            </a:r>
            <a:r>
              <a:rPr lang="en-US" altLang="en-US" sz="2000">
                <a:solidFill>
                  <a:schemeClr val="tx1"/>
                </a:solidFill>
              </a:rPr>
              <a:t> menjadi tiga tingkat yaitu, tingkat </a:t>
            </a:r>
            <a:r>
              <a:rPr lang="" altLang="en-US" sz="2000">
                <a:solidFill>
                  <a:schemeClr val="tx1"/>
                </a:solidFill>
              </a:rPr>
              <a:t>Risiko</a:t>
            </a:r>
            <a:r>
              <a:rPr lang="en-US" altLang="en-US" sz="2000">
                <a:solidFill>
                  <a:schemeClr val="tx1"/>
                </a:solidFill>
              </a:rPr>
              <a:t> </a:t>
            </a:r>
            <a:r>
              <a:rPr lang="" altLang="en-US" sz="2000">
                <a:solidFill>
                  <a:schemeClr val="tx1"/>
                </a:solidFill>
              </a:rPr>
              <a:t>T</a:t>
            </a:r>
            <a:r>
              <a:rPr lang="en-US" altLang="en-US" sz="2000">
                <a:solidFill>
                  <a:schemeClr val="tx1"/>
                </a:solidFill>
              </a:rPr>
              <a:t>inggi, </a:t>
            </a:r>
            <a:r>
              <a:rPr lang="" altLang="en-US" sz="2000">
                <a:solidFill>
                  <a:schemeClr val="tx1"/>
                </a:solidFill>
              </a:rPr>
              <a:t>Risiko</a:t>
            </a:r>
            <a:r>
              <a:rPr lang="en-US" altLang="en-US" sz="2000">
                <a:solidFill>
                  <a:schemeClr val="tx1"/>
                </a:solidFill>
              </a:rPr>
              <a:t> </a:t>
            </a:r>
            <a:r>
              <a:rPr lang="" altLang="en-US" sz="2000">
                <a:solidFill>
                  <a:schemeClr val="tx1"/>
                </a:solidFill>
              </a:rPr>
              <a:t>S</a:t>
            </a:r>
            <a:r>
              <a:rPr lang="en-US" altLang="en-US" sz="2000">
                <a:solidFill>
                  <a:schemeClr val="tx1"/>
                </a:solidFill>
              </a:rPr>
              <a:t>edang, dan </a:t>
            </a:r>
            <a:r>
              <a:rPr lang="" altLang="en-US" sz="2000">
                <a:solidFill>
                  <a:schemeClr val="tx1"/>
                </a:solidFill>
              </a:rPr>
              <a:t>Risiko</a:t>
            </a:r>
            <a:r>
              <a:rPr lang="en-US" altLang="en-US" sz="2000">
                <a:solidFill>
                  <a:schemeClr val="tx1"/>
                </a:solidFill>
              </a:rPr>
              <a:t> </a:t>
            </a:r>
            <a:r>
              <a:rPr lang="" altLang="en-US" sz="2000">
                <a:solidFill>
                  <a:schemeClr val="tx1"/>
                </a:solidFill>
              </a:rPr>
              <a:t>R</a:t>
            </a:r>
            <a:r>
              <a:rPr lang="en-US" altLang="en-US" sz="2000">
                <a:solidFill>
                  <a:schemeClr val="tx1"/>
                </a:solidFill>
              </a:rPr>
              <a:t>endah</a:t>
            </a:r>
            <a:r>
              <a:rPr lang="" altLang="en-US" sz="2000">
                <a:solidFill>
                  <a:schemeClr val="tx1"/>
                </a:solidFill>
              </a:rPr>
              <a:t>.</a:t>
            </a:r>
            <a:endParaRPr lang="" altLang="en-US" sz="200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/>
        </p:nvSpPr>
        <p:spPr>
          <a:xfrm>
            <a:off x="7300595" y="5213985"/>
            <a:ext cx="4416425" cy="14465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Penelitian ini menggunakan sampel </a:t>
            </a:r>
            <a:r>
              <a:rPr lang="" altLang="en-US" sz="2000">
                <a:solidFill>
                  <a:schemeClr val="tx1"/>
                </a:solidFill>
              </a:rPr>
              <a:t>data</a:t>
            </a:r>
            <a:r>
              <a:rPr lang="en-US" altLang="en-US" sz="2000">
                <a:solidFill>
                  <a:schemeClr val="tx1"/>
                </a:solidFill>
              </a:rPr>
              <a:t>, sehingga tidak mencakup keseluruhan daerah permukiman yang ada di Kota Banjarmasin.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7201535" y="3687445"/>
            <a:ext cx="4416425" cy="13976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000">
                <a:solidFill>
                  <a:schemeClr val="tx1"/>
                </a:solidFill>
              </a:rPr>
              <a:t>Pada p</a:t>
            </a:r>
            <a:r>
              <a:rPr lang="en-US" altLang="en-US" sz="2000">
                <a:solidFill>
                  <a:schemeClr val="tx1"/>
                </a:solidFill>
              </a:rPr>
              <a:t>eta </a:t>
            </a:r>
            <a:r>
              <a:rPr lang="" altLang="en-US" sz="2000">
                <a:solidFill>
                  <a:schemeClr val="tx1"/>
                </a:solidFill>
              </a:rPr>
              <a:t>z</a:t>
            </a:r>
            <a:r>
              <a:rPr lang="en-US" altLang="en-US" sz="2000">
                <a:solidFill>
                  <a:schemeClr val="tx1"/>
                </a:solidFill>
              </a:rPr>
              <a:t>onasi hanya menampilkan titik daerah permukiman yang disertai dengan kelas tingkat risikonya.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/>
        </p:nvSpPr>
        <p:spPr>
          <a:xfrm>
            <a:off x="609600" y="170307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1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6669405" y="170307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2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/>
        </p:nvSpPr>
        <p:spPr>
          <a:xfrm>
            <a:off x="640080" y="410972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1</a:t>
            </a:r>
            <a:endParaRPr lang="en-US" altLang="en-US" sz="4400">
              <a:solidFill>
                <a:schemeClr val="tx1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/>
        </p:nvSpPr>
        <p:spPr>
          <a:xfrm>
            <a:off x="6669405" y="400558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2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/>
        </p:nvSpPr>
        <p:spPr>
          <a:xfrm>
            <a:off x="701040" y="543433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3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/>
        </p:nvSpPr>
        <p:spPr>
          <a:xfrm>
            <a:off x="6669405" y="555625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4</a:t>
            </a:r>
            <a:endParaRPr lang="" altLang="en-US" sz="4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2630170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501523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1. PENDAHULUAN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31665" y="697230"/>
            <a:ext cx="332740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TUJUAN PENELITIAN</a:t>
            </a:r>
            <a:endParaRPr lang="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283335" y="1993265"/>
            <a:ext cx="4976495" cy="161544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Sebagai salah satu persyaratan dalam menyelesaikan pendidikan Strata I pada jurusan Sistem Informasi di Sekokah Tinggi Manajemen Informatika dan Komputer (STMIK) Indonesia.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7201535" y="2117725"/>
            <a:ext cx="4298950" cy="145796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Membuat sistem informasi geograf</a:t>
            </a:r>
            <a:r>
              <a:rPr lang="" altLang="en-US" sz="2000">
                <a:solidFill>
                  <a:schemeClr val="tx1"/>
                </a:solidFill>
              </a:rPr>
              <a:t>is</a:t>
            </a:r>
            <a:r>
              <a:rPr lang="en-US" altLang="en-US" sz="2000">
                <a:solidFill>
                  <a:schemeClr val="tx1"/>
                </a:solidFill>
              </a:rPr>
              <a:t> untuk memetakan zonasi tingkat risiko kebakaran permukiman di Kota Banjarmasin.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/>
        </p:nvSpPr>
        <p:spPr>
          <a:xfrm>
            <a:off x="1344295" y="4109720"/>
            <a:ext cx="4916170" cy="16090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Untuk mengimplementasikan ilmu yang telah didapat dari perkuliahan yang selama ini dilaksanakan dan sebagai salah satu bagian pengabdian kepada masyarakat.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7201535" y="4142105"/>
            <a:ext cx="4416425" cy="13976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Menerapkan Google Maps API dalam pengembangan sistem informasi geografis mengenai zonasi tingkat risiko kebakaran di wilayah Kota Banjarmasin.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/>
        </p:nvSpPr>
        <p:spPr>
          <a:xfrm>
            <a:off x="751205" y="2419985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1</a:t>
            </a:r>
            <a:endParaRPr lang="en-US" altLang="en-US" sz="4400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6669405" y="2419985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1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/>
        </p:nvSpPr>
        <p:spPr>
          <a:xfrm>
            <a:off x="812165" y="446024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2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/>
        </p:nvSpPr>
        <p:spPr>
          <a:xfrm>
            <a:off x="6669405" y="446024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2</a:t>
            </a:r>
            <a:endParaRPr lang="en-US" altLang="en-US" sz="4400">
              <a:solidFill>
                <a:schemeClr val="tx1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/>
        </p:nvSpPr>
        <p:spPr>
          <a:xfrm>
            <a:off x="1344295" y="1550035"/>
            <a:ext cx="2227580" cy="4432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000" b="1">
                <a:solidFill>
                  <a:schemeClr val="tx1"/>
                </a:solidFill>
              </a:rPr>
              <a:t>Tujuan Subjektif</a:t>
            </a:r>
            <a:endParaRPr lang="" altLang="en-US" sz="2000" b="1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8015" y="1437005"/>
            <a:ext cx="5720715" cy="458216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09385" y="1437005"/>
            <a:ext cx="5155565" cy="458216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4" name="Title 1"/>
          <p:cNvSpPr>
            <a:spLocks noGrp="1"/>
          </p:cNvSpPr>
          <p:nvPr/>
        </p:nvSpPr>
        <p:spPr>
          <a:xfrm>
            <a:off x="7201535" y="1550035"/>
            <a:ext cx="2227580" cy="4432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 b="1">
                <a:solidFill>
                  <a:schemeClr val="tx1"/>
                </a:solidFill>
              </a:rPr>
              <a:t>Tujuan </a:t>
            </a:r>
            <a:r>
              <a:rPr lang="" altLang="en-US" sz="2000" b="1">
                <a:solidFill>
                  <a:schemeClr val="tx1"/>
                </a:solidFill>
              </a:rPr>
              <a:t>Objektif</a:t>
            </a:r>
            <a:endParaRPr lang="" altLang="en-US" sz="20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2630170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501523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1. PENDAHULUAN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31665" y="697230"/>
            <a:ext cx="367411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MANFAAT</a:t>
            </a:r>
            <a:r>
              <a:rPr lang="en-US" altLang="en-US" sz="2400" b="1">
                <a:solidFill>
                  <a:schemeClr val="bg1"/>
                </a:solidFill>
              </a:rPr>
              <a:t> PENELITIAN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283335" y="1993265"/>
            <a:ext cx="7157085" cy="1141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Memberikan informasi yang berguna bagi masyarakat mengenai persebaran zonasi tingkat risiko kebakaran permukiman.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325880" y="4693285"/>
            <a:ext cx="6511290" cy="145796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Menambah komponen pendukung </a:t>
            </a:r>
            <a:r>
              <a:rPr lang="" altLang="en-US" sz="2000">
                <a:solidFill>
                  <a:schemeClr val="tx1"/>
                </a:solidFill>
              </a:rPr>
              <a:t>bagi BPBD </a:t>
            </a:r>
            <a:r>
              <a:rPr lang="en-US" altLang="en-US" sz="2000">
                <a:solidFill>
                  <a:schemeClr val="tx1"/>
                </a:solidFill>
              </a:rPr>
              <a:t>dalam penanganan serta penanggulangan bencana kebakaran permukiman.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/>
        </p:nvSpPr>
        <p:spPr>
          <a:xfrm>
            <a:off x="1298575" y="3417570"/>
            <a:ext cx="6986270" cy="16090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Meningkatkan kewaspadaan masyarakat terhadap bencana kebakaran permukiman, sehingga dapat mengurangi dampak kerugian akibat terjadinya kebakaran.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/>
        </p:nvSpPr>
        <p:spPr>
          <a:xfrm>
            <a:off x="751205" y="218313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1</a:t>
            </a:r>
            <a:endParaRPr lang="en-US" altLang="en-US" sz="4400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751205" y="485902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3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/>
        </p:nvSpPr>
        <p:spPr>
          <a:xfrm>
            <a:off x="751205" y="351155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2</a:t>
            </a:r>
            <a:endParaRPr lang="en-US" altLang="en-US" sz="4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" altLang="en-US" sz="2000" b="1">
                <a:solidFill>
                  <a:schemeClr val="bg1"/>
                </a:solidFill>
              </a:rPr>
              <a:t>2</a:t>
            </a:r>
            <a:r>
              <a:rPr lang="en-US" altLang="en-US" sz="2000" b="1">
                <a:solidFill>
                  <a:schemeClr val="bg1"/>
                </a:solidFill>
              </a:rPr>
              <a:t>. </a:t>
            </a:r>
            <a:r>
              <a:rPr lang="" altLang="en-US" sz="2000" b="1">
                <a:solidFill>
                  <a:schemeClr val="bg1"/>
                </a:solidFill>
              </a:rPr>
              <a:t>TINJAUAN PUSTAKA</a:t>
            </a:r>
            <a:endParaRPr lang="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31665" y="697230"/>
            <a:ext cx="400939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PENELITIAN TERDAHULU</a:t>
            </a:r>
            <a:endParaRPr lang="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283335" y="1438275"/>
            <a:ext cx="10381615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Analisis Tingkat Risiko Bencana Kebakaran Di Kecamatan Mariso Kota Makassar Berbasis Sistem Informasi Geografis (Bimo Aji Widiantoro, 2016)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283335" y="3401060"/>
            <a:ext cx="10272395" cy="753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Rancang Bangun Aplikasi Letak Dan Informasi Rental Mobil Di Banjarmasin Be</a:t>
            </a:r>
            <a:r>
              <a:rPr lang="" altLang="en-US" sz="2000">
                <a:solidFill>
                  <a:schemeClr val="tx1"/>
                </a:solidFill>
              </a:rPr>
              <a:t>r</a:t>
            </a:r>
            <a:r>
              <a:rPr lang="en-US" altLang="en-US" sz="2000">
                <a:solidFill>
                  <a:schemeClr val="tx1"/>
                </a:solidFill>
              </a:rPr>
              <a:t>basis Android Menggunakan Google Maps API (Richard Bill Andreas, 2018)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/>
        </p:nvSpPr>
        <p:spPr>
          <a:xfrm>
            <a:off x="1283335" y="2232025"/>
            <a:ext cx="10272395" cy="111950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Analisis Zonasi Daerah Rawan Bencana Kebakaran Di Kecamatan Danurejan Kota Yogyakarta Dengan Menggunakan Citra Satelit Quickbird Dan Sistem Informasi Geografi (Rendi, Munawar Cholil, Aditya Saputra, 2014)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/>
        </p:nvSpPr>
        <p:spPr>
          <a:xfrm>
            <a:off x="751205" y="1409065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1</a:t>
            </a:r>
            <a:endParaRPr lang="en-US" altLang="en-US" sz="4400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751205" y="337058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3</a:t>
            </a:r>
            <a:endParaRPr lang="en-US" altLang="en-US" sz="4400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/>
        </p:nvSpPr>
        <p:spPr>
          <a:xfrm>
            <a:off x="751205" y="2365375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4400">
                <a:solidFill>
                  <a:schemeClr val="tx1"/>
                </a:solidFill>
              </a:rPr>
              <a:t>2</a:t>
            </a:r>
            <a:endParaRPr lang="en-US" altLang="en-US" sz="4400">
              <a:solidFill>
                <a:schemeClr val="tx1"/>
              </a:solidFill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1276985" y="4245610"/>
            <a:ext cx="10272395" cy="753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Aplikasi Pemetaan Objek Bangunan Pada Sekretariat Daerah Kabupaten Tabalong Berbasis GIS Bentuk Piramida Terbalik (Asrani, 2018)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1285875" y="5103495"/>
            <a:ext cx="10272395" cy="753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Perancangan Aplikasi Pemetaan Sungai Di Kabupaten Barito Kuala Untuk Mengatasi Rawan Banjir Berbasis Sistem Informasi Geografis (Bayu Satriadi, 2012)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1283335" y="5963920"/>
            <a:ext cx="10272395" cy="753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Urban Fire Risk Assessment Using GIS: Case Study on Sharjah, UAE (M. M. Yagoub, Ahmad M. Jalil, 2014)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/>
        </p:nvSpPr>
        <p:spPr>
          <a:xfrm>
            <a:off x="744855" y="4215130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4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/>
        </p:nvSpPr>
        <p:spPr>
          <a:xfrm>
            <a:off x="753745" y="5048885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5</a:t>
            </a:r>
            <a:endParaRPr lang="" altLang="en-US" sz="4400">
              <a:solidFill>
                <a:schemeClr val="tx1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753745" y="5932805"/>
            <a:ext cx="53213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4400">
                <a:solidFill>
                  <a:schemeClr val="tx1"/>
                </a:solidFill>
              </a:rPr>
              <a:t>6</a:t>
            </a:r>
            <a:endParaRPr lang="" altLang="en-US" sz="440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659765" y="2186305"/>
            <a:ext cx="11014075" cy="571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Straight Connector 19"/>
          <p:cNvCxnSpPr/>
          <p:nvPr/>
        </p:nvCxnSpPr>
        <p:spPr>
          <a:xfrm>
            <a:off x="664845" y="3319145"/>
            <a:ext cx="11014075" cy="571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Straight Connector 20"/>
          <p:cNvCxnSpPr/>
          <p:nvPr/>
        </p:nvCxnSpPr>
        <p:spPr>
          <a:xfrm>
            <a:off x="670560" y="4148455"/>
            <a:ext cx="11014075" cy="571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traight Connector 21"/>
          <p:cNvCxnSpPr/>
          <p:nvPr/>
        </p:nvCxnSpPr>
        <p:spPr>
          <a:xfrm>
            <a:off x="650875" y="4998720"/>
            <a:ext cx="11014075" cy="571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Straight Connector 22"/>
          <p:cNvCxnSpPr/>
          <p:nvPr/>
        </p:nvCxnSpPr>
        <p:spPr>
          <a:xfrm>
            <a:off x="657225" y="5927090"/>
            <a:ext cx="11014075" cy="571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2. TINJAUAN PUSTAKA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5125720" y="694690"/>
            <a:ext cx="335724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GOOGLE MAPS API</a:t>
            </a:r>
            <a:endParaRPr lang="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714375" y="1655445"/>
            <a:ext cx="10381615" cy="826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Google Maps API merupakan aplikasi antarmuka yang dapat diakses melalui javascript agar Google Maps dapat ditampilkan pada web yang sedang dibangun.</a:t>
            </a:r>
            <a:endParaRPr lang="en-US" altLang="en-US" sz="2000">
              <a:solidFill>
                <a:schemeClr val="tx1"/>
              </a:solidFill>
            </a:endParaRPr>
          </a:p>
        </p:txBody>
      </p:sp>
      <p:pic>
        <p:nvPicPr>
          <p:cNvPr id="3" name="Picture 2" descr="inde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3505" y="2481580"/>
            <a:ext cx="6007100" cy="337566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2. TINJAUAN PUSTAKA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3715385" y="697230"/>
            <a:ext cx="790829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NILAI PEMBOBOTAN TINGKAT RISIKO KEBAKARAN</a:t>
            </a:r>
            <a:endParaRPr lang="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714375" y="1465580"/>
            <a:ext cx="10381615" cy="175768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Untuk menentukan tingkat risiko bencana kebakaran permukiman dapat dilakukan dengan pembobotan pada setiap indikator yang digunakan sebagai penelitian, dan masing-masing indikator diberikan nilai bobot atau faktor penimbangnya. Setiap indikator di klasifikasikan menjadi 3 (tiga) kelas variabel, yaitu variabel Bahaya (Hazard), Kerentanan (Vulnerbility) dan Ketahanan (Capacity).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19" name="Snip Diagonal Corner Rectangle 18"/>
          <p:cNvSpPr/>
          <p:nvPr/>
        </p:nvSpPr>
        <p:spPr>
          <a:xfrm>
            <a:off x="609600" y="3409315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4" name="Title 1"/>
          <p:cNvSpPr>
            <a:spLocks noGrp="1"/>
          </p:cNvSpPr>
          <p:nvPr/>
        </p:nvSpPr>
        <p:spPr>
          <a:xfrm>
            <a:off x="2444115" y="3427730"/>
            <a:ext cx="790829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ANALISA TINGKAT RISIKO BENCANA KEBAKARAN</a:t>
            </a:r>
            <a:endParaRPr lang="" altLang="en-US" sz="2400" b="1">
              <a:solidFill>
                <a:schemeClr val="bg1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/>
        </p:nvSpPr>
        <p:spPr>
          <a:xfrm>
            <a:off x="609600" y="4269105"/>
            <a:ext cx="10381615" cy="1993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000">
                <a:solidFill>
                  <a:schemeClr val="tx1"/>
                </a:solidFill>
              </a:rPr>
              <a:t>Dilakukan </a:t>
            </a:r>
            <a:r>
              <a:rPr lang="en-US" altLang="en-US" sz="2000">
                <a:solidFill>
                  <a:schemeClr val="tx1"/>
                </a:solidFill>
              </a:rPr>
              <a:t>berdasarkan atas analisa ancaman (hazard), kerentanan (vulnerability) dan kapasitas (capacity) sehingga dapat dibuat hubungannya untuk menghitung besaran risiko bencana suatu wilayah, dengan rumus seperti berikut :</a:t>
            </a:r>
            <a:endParaRPr lang="en-US" altLang="en-US" sz="2000">
              <a:solidFill>
                <a:schemeClr val="tx1"/>
              </a:solidFill>
            </a:endParaRPr>
          </a:p>
          <a:p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en-US" altLang="en-US" sz="4400">
                <a:solidFill>
                  <a:schemeClr val="tx1"/>
                </a:solidFill>
              </a:rPr>
              <a:t>R = H x V / C</a:t>
            </a:r>
            <a:endParaRPr lang="en-US" altLang="en-US" sz="2000">
              <a:solidFill>
                <a:schemeClr val="tx1"/>
              </a:solidFill>
            </a:endParaRPr>
          </a:p>
          <a:p>
            <a:endParaRPr lang="en-US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" altLang="en-US" sz="2000" b="1">
                <a:solidFill>
                  <a:schemeClr val="bg1"/>
                </a:solidFill>
              </a:rPr>
              <a:t>3. ANALISA &amp; DESAIN</a:t>
            </a:r>
            <a:endParaRPr lang="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81195" y="725170"/>
            <a:ext cx="392620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PERANCANGAN SISTEM</a:t>
            </a:r>
            <a:endParaRPr lang="" altLang="en-US" sz="2400" b="1">
              <a:solidFill>
                <a:schemeClr val="bg1"/>
              </a:solidFill>
            </a:endParaRPr>
          </a:p>
        </p:txBody>
      </p:sp>
      <p:pic>
        <p:nvPicPr>
          <p:cNvPr id="79" name="Picture 31"/>
          <p:cNvPicPr>
            <a:picLocks noChangeAspect="1"/>
          </p:cNvPicPr>
          <p:nvPr/>
        </p:nvPicPr>
        <p:blipFill>
          <a:blip r:embed="rId1"/>
          <a:srcRect l="11844" t="12578" r="25263" b="12427"/>
          <a:stretch>
            <a:fillRect/>
          </a:stretch>
        </p:blipFill>
        <p:spPr>
          <a:xfrm>
            <a:off x="2145030" y="1422400"/>
            <a:ext cx="7823835" cy="52457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>
            <a:spLocks noGrp="1"/>
          </p:cNvSpPr>
          <p:nvPr/>
        </p:nvSpPr>
        <p:spPr>
          <a:xfrm>
            <a:off x="880110" y="947420"/>
            <a:ext cx="2576195" cy="351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1800" b="1">
                <a:solidFill>
                  <a:schemeClr val="bg1"/>
                </a:solidFill>
              </a:rPr>
              <a:t>Use-Case Diagram</a:t>
            </a:r>
            <a:endParaRPr lang="" altLang="en-US" sz="1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3. ANALISA &amp; DESAIN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50715" y="694690"/>
            <a:ext cx="392620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400" b="1">
                <a:solidFill>
                  <a:schemeClr val="bg1"/>
                </a:solidFill>
              </a:rPr>
              <a:t>PERANCANGAN SISTEM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1"/>
          <a:srcRect l="10876" t="12837" r="21121" b="12492"/>
          <a:stretch>
            <a:fillRect/>
          </a:stretch>
        </p:blipFill>
        <p:spPr>
          <a:xfrm>
            <a:off x="1931670" y="1491615"/>
            <a:ext cx="832866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880110" y="947420"/>
            <a:ext cx="2576195" cy="351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1800" b="1">
                <a:solidFill>
                  <a:schemeClr val="bg1"/>
                </a:solidFill>
              </a:rPr>
              <a:t>Class Diagram</a:t>
            </a:r>
            <a:endParaRPr lang="" altLang="en-US" sz="1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3. ANALISA &amp; DESAIN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50715" y="694690"/>
            <a:ext cx="392620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400" b="1">
                <a:solidFill>
                  <a:schemeClr val="bg1"/>
                </a:solidFill>
              </a:rPr>
              <a:t>PERANCANGAN SISTEM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880110" y="947420"/>
            <a:ext cx="2576195" cy="351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1800" b="1">
                <a:solidFill>
                  <a:schemeClr val="bg1"/>
                </a:solidFill>
              </a:rPr>
              <a:t>Design Interfaces</a:t>
            </a:r>
            <a:endParaRPr lang="" altLang="en-US" sz="1800" b="1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l="43502" t="28774" r="21158" b="25221"/>
          <a:stretch>
            <a:fillRect/>
          </a:stretch>
        </p:blipFill>
        <p:spPr>
          <a:xfrm>
            <a:off x="2857500" y="1614170"/>
            <a:ext cx="6176645" cy="4525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3. ANALISA &amp; DESAIN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50715" y="694690"/>
            <a:ext cx="392620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400" b="1">
                <a:solidFill>
                  <a:schemeClr val="bg1"/>
                </a:solidFill>
              </a:rPr>
              <a:t>PERANCANGAN SISTEM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880110" y="947420"/>
            <a:ext cx="2576195" cy="351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1800" b="1">
                <a:solidFill>
                  <a:schemeClr val="bg1"/>
                </a:solidFill>
              </a:rPr>
              <a:t>Design Interfaces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27443" t="19470" r="5099" b="16089"/>
          <a:stretch>
            <a:fillRect/>
          </a:stretch>
        </p:blipFill>
        <p:spPr>
          <a:xfrm>
            <a:off x="1370330" y="1453515"/>
            <a:ext cx="9076055" cy="4877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3. ANALISA &amp; DESAIN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50715" y="694690"/>
            <a:ext cx="392620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400" b="1">
                <a:solidFill>
                  <a:schemeClr val="bg1"/>
                </a:solidFill>
              </a:rPr>
              <a:t>PERANCANGAN SISTEM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880110" y="947420"/>
            <a:ext cx="2576195" cy="351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1800" b="1">
                <a:solidFill>
                  <a:schemeClr val="bg1"/>
                </a:solidFill>
              </a:rPr>
              <a:t>Design Interfaces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pic>
        <p:nvPicPr>
          <p:cNvPr id="10" name="Picture 4"/>
          <p:cNvPicPr>
            <a:picLocks noChangeAspect="1"/>
          </p:cNvPicPr>
          <p:nvPr/>
        </p:nvPicPr>
        <p:blipFill>
          <a:blip r:embed="rId1"/>
          <a:srcRect l="27492" t="19470" r="5208" b="16153"/>
          <a:stretch>
            <a:fillRect/>
          </a:stretch>
        </p:blipFill>
        <p:spPr>
          <a:xfrm>
            <a:off x="1604645" y="1540510"/>
            <a:ext cx="906526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3. ANALISA &amp; DESAIN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50715" y="694690"/>
            <a:ext cx="392620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400" b="1">
                <a:solidFill>
                  <a:schemeClr val="bg1"/>
                </a:solidFill>
              </a:rPr>
              <a:t>PERANCANGAN SISTEM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880110" y="947420"/>
            <a:ext cx="2576195" cy="351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1800" b="1">
                <a:solidFill>
                  <a:schemeClr val="bg1"/>
                </a:solidFill>
              </a:rPr>
              <a:t>Design Interfaces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1"/>
          <a:srcRect l="27552" t="19470" r="5159" b="16153"/>
          <a:stretch>
            <a:fillRect/>
          </a:stretch>
        </p:blipFill>
        <p:spPr>
          <a:xfrm>
            <a:off x="1346835" y="1487170"/>
            <a:ext cx="9581515" cy="51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5280"/>
            <a:ext cx="3166110" cy="582930"/>
          </a:xfrm>
        </p:spPr>
        <p:txBody>
          <a:bodyPr/>
          <a:p>
            <a:r>
              <a:rPr lang="en-US" altLang="en-US" sz="2000" b="1">
                <a:solidFill>
                  <a:schemeClr val="bg1"/>
                </a:solidFill>
              </a:rPr>
              <a:t>3. ANALISA &amp; DESAIN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450715" y="694690"/>
            <a:ext cx="392620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2400" b="1">
                <a:solidFill>
                  <a:schemeClr val="bg1"/>
                </a:solidFill>
              </a:rPr>
              <a:t>PERANCANGAN SISTEM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880110" y="947420"/>
            <a:ext cx="2576195" cy="3511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en-US" altLang="en-US" sz="1800" b="1">
                <a:solidFill>
                  <a:schemeClr val="bg1"/>
                </a:solidFill>
              </a:rPr>
              <a:t>Design Interfaces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1"/>
          <a:srcRect l="27359" t="19406" r="5135" b="15938"/>
          <a:stretch>
            <a:fillRect/>
          </a:stretch>
        </p:blipFill>
        <p:spPr>
          <a:xfrm>
            <a:off x="1806575" y="1530985"/>
            <a:ext cx="8578850" cy="462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nip Diagonal Corner Rectangle 5"/>
          <p:cNvSpPr/>
          <p:nvPr/>
        </p:nvSpPr>
        <p:spPr>
          <a:xfrm>
            <a:off x="609600" y="664210"/>
            <a:ext cx="11055350" cy="64960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609600" y="302260"/>
            <a:ext cx="3056255" cy="649605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955" y="335280"/>
            <a:ext cx="1459230" cy="582930"/>
          </a:xfrm>
        </p:spPr>
        <p:txBody>
          <a:bodyPr/>
          <a:p>
            <a:r>
              <a:rPr lang="" altLang="en-US" sz="2000" b="1">
                <a:solidFill>
                  <a:schemeClr val="bg1"/>
                </a:solidFill>
              </a:rPr>
              <a:t>PENUTUP</a:t>
            </a:r>
            <a:endParaRPr lang="" altLang="en-US" sz="2000" b="1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5382895" y="697865"/>
            <a:ext cx="150876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r>
              <a:rPr lang="" altLang="en-US" sz="2400" b="1">
                <a:solidFill>
                  <a:schemeClr val="bg1"/>
                </a:solidFill>
              </a:rPr>
              <a:t>SELESAI</a:t>
            </a:r>
            <a:endParaRPr lang="" altLang="en-US" sz="2400" b="1">
              <a:solidFill>
                <a:schemeClr val="bg1"/>
              </a:solidFill>
            </a:endParaRPr>
          </a:p>
        </p:txBody>
      </p:sp>
      <p:pic>
        <p:nvPicPr>
          <p:cNvPr id="3" name="Picture 2" descr="LOGOSTMIKINDONESIABANJARMAS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165" y="3375660"/>
            <a:ext cx="2082800" cy="2031365"/>
          </a:xfrm>
          <a:prstGeom prst="rect">
            <a:avLst/>
          </a:prstGeom>
        </p:spPr>
      </p:pic>
      <p:pic>
        <p:nvPicPr>
          <p:cNvPr id="8" name="Picture 7" descr="avatar"/>
          <p:cNvPicPr>
            <a:picLocks noChangeAspect="1"/>
          </p:cNvPicPr>
          <p:nvPr/>
        </p:nvPicPr>
        <p:blipFill>
          <a:blip r:embed="rId2"/>
          <a:srcRect l="21380" r="22160" b="41940"/>
          <a:stretch>
            <a:fillRect/>
          </a:stretch>
        </p:blipFill>
        <p:spPr>
          <a:xfrm>
            <a:off x="8237220" y="3555365"/>
            <a:ext cx="1809115" cy="1860550"/>
          </a:xfrm>
          <a:prstGeom prst="ellipse">
            <a:avLst/>
          </a:prstGeom>
        </p:spPr>
      </p:pic>
      <p:sp>
        <p:nvSpPr>
          <p:cNvPr id="9" name="Title 1"/>
          <p:cNvSpPr>
            <a:spLocks noGrp="1"/>
          </p:cNvSpPr>
          <p:nvPr/>
        </p:nvSpPr>
        <p:spPr>
          <a:xfrm>
            <a:off x="6520180" y="5601970"/>
            <a:ext cx="4961890" cy="857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pPr algn="ctr"/>
            <a:r>
              <a:rPr lang="" alt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MUHAMMAD NIKO DWIJATMIKO</a:t>
            </a:r>
            <a:endParaRPr lang="" altLang="en-US" sz="2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" alt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16.03.1076</a:t>
            </a:r>
            <a:endParaRPr lang="" altLang="en-US" sz="2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/>
        </p:nvSpPr>
        <p:spPr>
          <a:xfrm>
            <a:off x="278130" y="5593715"/>
            <a:ext cx="4961890" cy="857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pPr algn="ctr"/>
            <a:r>
              <a:rPr lang="" alt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JURUSAN SISTEM INFORMASI</a:t>
            </a:r>
            <a:endParaRPr lang="" altLang="en-US" sz="2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" alt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STMIK INDONESIA BANJARMASIN</a:t>
            </a:r>
            <a:endParaRPr lang="" altLang="en-US" sz="2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/>
        </p:nvSpPr>
        <p:spPr>
          <a:xfrm>
            <a:off x="2275205" y="1824990"/>
            <a:ext cx="7442835" cy="857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pPr algn="ctr"/>
            <a:r>
              <a:rPr lang="" altLang="en-US" sz="7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TERIMAKASIH</a:t>
            </a:r>
            <a:endParaRPr lang="" altLang="en-US" sz="72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4891</Words>
  <Application>WPS Presentation</Application>
  <PresentationFormat>Widescreen</PresentationFormat>
  <Paragraphs>189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 Unicode MS</vt:lpstr>
      <vt:lpstr>Calibri Light</vt:lpstr>
      <vt:lpstr>Calibri</vt:lpstr>
      <vt:lpstr>微软雅黑</vt:lpstr>
      <vt:lpstr>Droid Sans Fallback</vt:lpstr>
      <vt:lpstr>Webdings</vt:lpstr>
      <vt:lpstr>Times New Roman</vt:lpstr>
      <vt:lpstr>SimSun</vt:lpstr>
      <vt:lpstr>Blue Waves</vt:lpstr>
      <vt:lpstr>PowerPoint 演示文稿</vt:lpstr>
      <vt:lpstr>1. PENDAHULUAN</vt:lpstr>
      <vt:lpstr>1. PENDAHULUAN</vt:lpstr>
      <vt:lpstr>1. PENDAHULUAN</vt:lpstr>
      <vt:lpstr>1. PENDAHULUAN</vt:lpstr>
      <vt:lpstr>1. PENDAHULUAN</vt:lpstr>
      <vt:lpstr>2. TINJAUAN PUSTAKA</vt:lpstr>
      <vt:lpstr>2. TINJAUAN PUSTAKA</vt:lpstr>
      <vt:lpstr>2. TINJAUAN PUSTAKA</vt:lpstr>
      <vt:lpstr>3. ANALISA &amp; DESAIN</vt:lpstr>
      <vt:lpstr>3. ANALISA &amp; DESAIN</vt:lpstr>
      <vt:lpstr>3. ANALISA &amp; DESAIN</vt:lpstr>
      <vt:lpstr>3. ANALISA &amp; DESAIN</vt:lpstr>
      <vt:lpstr>3. ANALISA &amp; DESAIN</vt:lpstr>
      <vt:lpstr>3. ANALISA &amp; DESAIN</vt:lpstr>
      <vt:lpstr>3. ANALISA &amp; DESAIN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“IMPLEMENTASI GOOGLE MAPS API PADA SISTEM INFORMASI GEOGRAFIS ZONASI TINGKAT RISIKO KEBAKARAN PERMUKIMAN DI KOTA BANJARMASIN”</dc:title>
  <dc:creator>niko</dc:creator>
  <cp:lastModifiedBy>niko</cp:lastModifiedBy>
  <cp:revision>31</cp:revision>
  <dcterms:created xsi:type="dcterms:W3CDTF">2020-01-21T16:43:11Z</dcterms:created>
  <dcterms:modified xsi:type="dcterms:W3CDTF">2020-01-21T16:43:11Z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1033-11.1.0.8392</vt:lpwstr>
  </property>
</Properties>
</file>